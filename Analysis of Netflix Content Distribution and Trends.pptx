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66"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D3CE43-7B02-4050-8234-D06E8EA4FC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BD5BF96-4451-4062-91FE-446A071CF8F6}">
      <dgm:prSet/>
      <dgm:spPr/>
      <dgm:t>
        <a:bodyPr/>
        <a:lstStyle/>
        <a:p>
          <a:pPr>
            <a:lnSpc>
              <a:spcPct val="100000"/>
            </a:lnSpc>
          </a:pPr>
          <a:r>
            <a:rPr lang="en-US" b="1" dirty="0"/>
            <a:t>Expand TV Series Production</a:t>
          </a:r>
          <a:r>
            <a:rPr lang="en-US" dirty="0"/>
            <a:t>: Considering the current catalog is heavy on movies, Netflix could consider balancing this with more TV series to cater to audiences who prefer episodic content.</a:t>
          </a:r>
        </a:p>
      </dgm:t>
    </dgm:pt>
    <dgm:pt modelId="{475E5A03-96A3-45EA-A34C-F1F303581816}" type="parTrans" cxnId="{6CF17BA8-369C-421D-B2D1-998EC5F1660E}">
      <dgm:prSet/>
      <dgm:spPr/>
      <dgm:t>
        <a:bodyPr/>
        <a:lstStyle/>
        <a:p>
          <a:endParaRPr lang="en-US"/>
        </a:p>
      </dgm:t>
    </dgm:pt>
    <dgm:pt modelId="{A6C5E3E2-6E76-48BF-8AD6-B2CDEE7708C3}" type="sibTrans" cxnId="{6CF17BA8-369C-421D-B2D1-998EC5F1660E}">
      <dgm:prSet/>
      <dgm:spPr/>
      <dgm:t>
        <a:bodyPr/>
        <a:lstStyle/>
        <a:p>
          <a:endParaRPr lang="en-US"/>
        </a:p>
      </dgm:t>
    </dgm:pt>
    <dgm:pt modelId="{09141C23-B31F-4199-A544-BFE42511B7BD}">
      <dgm:prSet/>
      <dgm:spPr/>
      <dgm:t>
        <a:bodyPr/>
        <a:lstStyle/>
        <a:p>
          <a:pPr>
            <a:lnSpc>
              <a:spcPct val="100000"/>
            </a:lnSpc>
          </a:pPr>
          <a:r>
            <a:rPr lang="en-US" b="1"/>
            <a:t>Focus on Emerging Markets</a:t>
          </a:r>
          <a:r>
            <a:rPr lang="en-US"/>
            <a:t>: Enhancing content offerings in rapidly growing markets like India could capitalize on regional growth potential.</a:t>
          </a:r>
        </a:p>
      </dgm:t>
    </dgm:pt>
    <dgm:pt modelId="{F41517E1-5B6D-4BEC-90B5-0E0DF284C5CA}" type="parTrans" cxnId="{5887F8FF-7B58-4848-8418-15667FB093F5}">
      <dgm:prSet/>
      <dgm:spPr/>
      <dgm:t>
        <a:bodyPr/>
        <a:lstStyle/>
        <a:p>
          <a:endParaRPr lang="en-US"/>
        </a:p>
      </dgm:t>
    </dgm:pt>
    <dgm:pt modelId="{B7167655-0577-4138-9ACE-B951F2C0237A}" type="sibTrans" cxnId="{5887F8FF-7B58-4848-8418-15667FB093F5}">
      <dgm:prSet/>
      <dgm:spPr/>
      <dgm:t>
        <a:bodyPr/>
        <a:lstStyle/>
        <a:p>
          <a:endParaRPr lang="en-US"/>
        </a:p>
      </dgm:t>
    </dgm:pt>
    <dgm:pt modelId="{73197F49-ACAB-4557-BABE-CD902C91AC2A}">
      <dgm:prSet/>
      <dgm:spPr/>
      <dgm:t>
        <a:bodyPr/>
        <a:lstStyle/>
        <a:p>
          <a:pPr>
            <a:lnSpc>
              <a:spcPct val="100000"/>
            </a:lnSpc>
          </a:pPr>
          <a:r>
            <a:rPr lang="en-US" b="1"/>
            <a:t>Invest in Diverse Genres</a:t>
          </a:r>
          <a:r>
            <a:rPr lang="en-US"/>
            <a:t>: While documentaries are popular, investing in other genres like sci-fi or fantasy could attract different viewer segments.</a:t>
          </a:r>
        </a:p>
      </dgm:t>
    </dgm:pt>
    <dgm:pt modelId="{1D5374D5-B810-4A86-8113-905E1A1FDED5}" type="parTrans" cxnId="{6A4EAC30-0744-468C-BF2E-CFB35C2B497B}">
      <dgm:prSet/>
      <dgm:spPr/>
      <dgm:t>
        <a:bodyPr/>
        <a:lstStyle/>
        <a:p>
          <a:endParaRPr lang="en-US"/>
        </a:p>
      </dgm:t>
    </dgm:pt>
    <dgm:pt modelId="{63D4BC9E-88B6-4511-91AF-71A0813F557D}" type="sibTrans" cxnId="{6A4EAC30-0744-468C-BF2E-CFB35C2B497B}">
      <dgm:prSet/>
      <dgm:spPr/>
      <dgm:t>
        <a:bodyPr/>
        <a:lstStyle/>
        <a:p>
          <a:endParaRPr lang="en-US"/>
        </a:p>
      </dgm:t>
    </dgm:pt>
    <dgm:pt modelId="{33BB4DE0-9D32-48C3-B365-E4EDD354DBED}" type="pres">
      <dgm:prSet presAssocID="{36D3CE43-7B02-4050-8234-D06E8EA4FC68}" presName="root" presStyleCnt="0">
        <dgm:presLayoutVars>
          <dgm:dir/>
          <dgm:resizeHandles val="exact"/>
        </dgm:presLayoutVars>
      </dgm:prSet>
      <dgm:spPr/>
    </dgm:pt>
    <dgm:pt modelId="{5FE486C5-AC9C-4CA1-B834-1839FB85A86E}" type="pres">
      <dgm:prSet presAssocID="{7BD5BF96-4451-4062-91FE-446A071CF8F6}" presName="compNode" presStyleCnt="0"/>
      <dgm:spPr/>
    </dgm:pt>
    <dgm:pt modelId="{B0974AA8-AE74-45C8-BA60-71BF04338B8F}" type="pres">
      <dgm:prSet presAssocID="{7BD5BF96-4451-4062-91FE-446A071CF8F6}" presName="bgRect" presStyleLbl="bgShp" presStyleIdx="0" presStyleCnt="3"/>
      <dgm:spPr/>
    </dgm:pt>
    <dgm:pt modelId="{F7D03213-02EC-456E-933E-280B282E4DC0}" type="pres">
      <dgm:prSet presAssocID="{7BD5BF96-4451-4062-91FE-446A071CF8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elevision"/>
        </a:ext>
      </dgm:extLst>
    </dgm:pt>
    <dgm:pt modelId="{12C66337-6F65-4E9A-B678-D695DFE9DBC3}" type="pres">
      <dgm:prSet presAssocID="{7BD5BF96-4451-4062-91FE-446A071CF8F6}" presName="spaceRect" presStyleCnt="0"/>
      <dgm:spPr/>
    </dgm:pt>
    <dgm:pt modelId="{ED567A3C-2C7D-4FC5-B766-B9D1FD62D29F}" type="pres">
      <dgm:prSet presAssocID="{7BD5BF96-4451-4062-91FE-446A071CF8F6}" presName="parTx" presStyleLbl="revTx" presStyleIdx="0" presStyleCnt="3">
        <dgm:presLayoutVars>
          <dgm:chMax val="0"/>
          <dgm:chPref val="0"/>
        </dgm:presLayoutVars>
      </dgm:prSet>
      <dgm:spPr/>
    </dgm:pt>
    <dgm:pt modelId="{55E54228-6AE9-4C78-B205-59AEDED3A216}" type="pres">
      <dgm:prSet presAssocID="{A6C5E3E2-6E76-48BF-8AD6-B2CDEE7708C3}" presName="sibTrans" presStyleCnt="0"/>
      <dgm:spPr/>
    </dgm:pt>
    <dgm:pt modelId="{54A1739B-8324-4E20-BC51-D95E3EBD1B11}" type="pres">
      <dgm:prSet presAssocID="{09141C23-B31F-4199-A544-BFE42511B7BD}" presName="compNode" presStyleCnt="0"/>
      <dgm:spPr/>
    </dgm:pt>
    <dgm:pt modelId="{DD6D90D1-7B61-4259-9427-7C58BC5CA6BF}" type="pres">
      <dgm:prSet presAssocID="{09141C23-B31F-4199-A544-BFE42511B7BD}" presName="bgRect" presStyleLbl="bgShp" presStyleIdx="1" presStyleCnt="3"/>
      <dgm:spPr/>
    </dgm:pt>
    <dgm:pt modelId="{0C93A822-A532-4E14-A244-E02BADB3FA3A}" type="pres">
      <dgm:prSet presAssocID="{09141C23-B31F-4199-A544-BFE42511B7B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51AF6780-90FB-4752-BD4F-D4E44BF2437C}" type="pres">
      <dgm:prSet presAssocID="{09141C23-B31F-4199-A544-BFE42511B7BD}" presName="spaceRect" presStyleCnt="0"/>
      <dgm:spPr/>
    </dgm:pt>
    <dgm:pt modelId="{37350140-9C6F-4198-B168-FED55ABB0491}" type="pres">
      <dgm:prSet presAssocID="{09141C23-B31F-4199-A544-BFE42511B7BD}" presName="parTx" presStyleLbl="revTx" presStyleIdx="1" presStyleCnt="3">
        <dgm:presLayoutVars>
          <dgm:chMax val="0"/>
          <dgm:chPref val="0"/>
        </dgm:presLayoutVars>
      </dgm:prSet>
      <dgm:spPr/>
    </dgm:pt>
    <dgm:pt modelId="{E37082C1-D628-46E2-AA16-03DE4FE93562}" type="pres">
      <dgm:prSet presAssocID="{B7167655-0577-4138-9ACE-B951F2C0237A}" presName="sibTrans" presStyleCnt="0"/>
      <dgm:spPr/>
    </dgm:pt>
    <dgm:pt modelId="{0CD25FB6-B7CE-4695-989E-1F9DA162E470}" type="pres">
      <dgm:prSet presAssocID="{73197F49-ACAB-4557-BABE-CD902C91AC2A}" presName="compNode" presStyleCnt="0"/>
      <dgm:spPr/>
    </dgm:pt>
    <dgm:pt modelId="{59368C79-9759-4F22-AFC6-D014D09DAF57}" type="pres">
      <dgm:prSet presAssocID="{73197F49-ACAB-4557-BABE-CD902C91AC2A}" presName="bgRect" presStyleLbl="bgShp" presStyleIdx="2" presStyleCnt="3"/>
      <dgm:spPr/>
    </dgm:pt>
    <dgm:pt modelId="{9350AF59-8424-4F36-884C-9575CDCA3738}" type="pres">
      <dgm:prSet presAssocID="{73197F49-ACAB-4557-BABE-CD902C91AC2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lm reel"/>
        </a:ext>
      </dgm:extLst>
    </dgm:pt>
    <dgm:pt modelId="{29818451-C03D-4A3B-9586-72DC4B62C4A0}" type="pres">
      <dgm:prSet presAssocID="{73197F49-ACAB-4557-BABE-CD902C91AC2A}" presName="spaceRect" presStyleCnt="0"/>
      <dgm:spPr/>
    </dgm:pt>
    <dgm:pt modelId="{50056E56-4262-4C2B-9742-53BFF4CF97C3}" type="pres">
      <dgm:prSet presAssocID="{73197F49-ACAB-4557-BABE-CD902C91AC2A}" presName="parTx" presStyleLbl="revTx" presStyleIdx="2" presStyleCnt="3">
        <dgm:presLayoutVars>
          <dgm:chMax val="0"/>
          <dgm:chPref val="0"/>
        </dgm:presLayoutVars>
      </dgm:prSet>
      <dgm:spPr/>
    </dgm:pt>
  </dgm:ptLst>
  <dgm:cxnLst>
    <dgm:cxn modelId="{6A4EAC30-0744-468C-BF2E-CFB35C2B497B}" srcId="{36D3CE43-7B02-4050-8234-D06E8EA4FC68}" destId="{73197F49-ACAB-4557-BABE-CD902C91AC2A}" srcOrd="2" destOrd="0" parTransId="{1D5374D5-B810-4A86-8113-905E1A1FDED5}" sibTransId="{63D4BC9E-88B6-4511-91AF-71A0813F557D}"/>
    <dgm:cxn modelId="{7325C634-4475-4259-A56F-932A420626F7}" type="presOf" srcId="{09141C23-B31F-4199-A544-BFE42511B7BD}" destId="{37350140-9C6F-4198-B168-FED55ABB0491}" srcOrd="0" destOrd="0" presId="urn:microsoft.com/office/officeart/2018/2/layout/IconVerticalSolidList"/>
    <dgm:cxn modelId="{6CF17BA8-369C-421D-B2D1-998EC5F1660E}" srcId="{36D3CE43-7B02-4050-8234-D06E8EA4FC68}" destId="{7BD5BF96-4451-4062-91FE-446A071CF8F6}" srcOrd="0" destOrd="0" parTransId="{475E5A03-96A3-45EA-A34C-F1F303581816}" sibTransId="{A6C5E3E2-6E76-48BF-8AD6-B2CDEE7708C3}"/>
    <dgm:cxn modelId="{BD6CB3DB-2805-418D-9DF6-3D3BADAB91B9}" type="presOf" srcId="{7BD5BF96-4451-4062-91FE-446A071CF8F6}" destId="{ED567A3C-2C7D-4FC5-B766-B9D1FD62D29F}" srcOrd="0" destOrd="0" presId="urn:microsoft.com/office/officeart/2018/2/layout/IconVerticalSolidList"/>
    <dgm:cxn modelId="{541CFDE9-BBF0-4152-BE80-5A7B6D8B58BE}" type="presOf" srcId="{73197F49-ACAB-4557-BABE-CD902C91AC2A}" destId="{50056E56-4262-4C2B-9742-53BFF4CF97C3}" srcOrd="0" destOrd="0" presId="urn:microsoft.com/office/officeart/2018/2/layout/IconVerticalSolidList"/>
    <dgm:cxn modelId="{43E43BFD-F9E0-4346-9443-B4FFEFE6738B}" type="presOf" srcId="{36D3CE43-7B02-4050-8234-D06E8EA4FC68}" destId="{33BB4DE0-9D32-48C3-B365-E4EDD354DBED}" srcOrd="0" destOrd="0" presId="urn:microsoft.com/office/officeart/2018/2/layout/IconVerticalSolidList"/>
    <dgm:cxn modelId="{5887F8FF-7B58-4848-8418-15667FB093F5}" srcId="{36D3CE43-7B02-4050-8234-D06E8EA4FC68}" destId="{09141C23-B31F-4199-A544-BFE42511B7BD}" srcOrd="1" destOrd="0" parTransId="{F41517E1-5B6D-4BEC-90B5-0E0DF284C5CA}" sibTransId="{B7167655-0577-4138-9ACE-B951F2C0237A}"/>
    <dgm:cxn modelId="{CBFE160A-11AB-410D-835A-8AA547776EE0}" type="presParOf" srcId="{33BB4DE0-9D32-48C3-B365-E4EDD354DBED}" destId="{5FE486C5-AC9C-4CA1-B834-1839FB85A86E}" srcOrd="0" destOrd="0" presId="urn:microsoft.com/office/officeart/2018/2/layout/IconVerticalSolidList"/>
    <dgm:cxn modelId="{EB61E759-7E16-44FD-9C0A-9AF443755653}" type="presParOf" srcId="{5FE486C5-AC9C-4CA1-B834-1839FB85A86E}" destId="{B0974AA8-AE74-45C8-BA60-71BF04338B8F}" srcOrd="0" destOrd="0" presId="urn:microsoft.com/office/officeart/2018/2/layout/IconVerticalSolidList"/>
    <dgm:cxn modelId="{9F56BA06-BF33-42DD-AF2D-4B28EEF2BEBA}" type="presParOf" srcId="{5FE486C5-AC9C-4CA1-B834-1839FB85A86E}" destId="{F7D03213-02EC-456E-933E-280B282E4DC0}" srcOrd="1" destOrd="0" presId="urn:microsoft.com/office/officeart/2018/2/layout/IconVerticalSolidList"/>
    <dgm:cxn modelId="{772995BD-2879-47AE-9160-F688413C773B}" type="presParOf" srcId="{5FE486C5-AC9C-4CA1-B834-1839FB85A86E}" destId="{12C66337-6F65-4E9A-B678-D695DFE9DBC3}" srcOrd="2" destOrd="0" presId="urn:microsoft.com/office/officeart/2018/2/layout/IconVerticalSolidList"/>
    <dgm:cxn modelId="{051727A8-D87B-467C-A408-08D6C3C2E6B2}" type="presParOf" srcId="{5FE486C5-AC9C-4CA1-B834-1839FB85A86E}" destId="{ED567A3C-2C7D-4FC5-B766-B9D1FD62D29F}" srcOrd="3" destOrd="0" presId="urn:microsoft.com/office/officeart/2018/2/layout/IconVerticalSolidList"/>
    <dgm:cxn modelId="{BF3BCCCA-E2C9-407C-8FF6-D622EF0F72C1}" type="presParOf" srcId="{33BB4DE0-9D32-48C3-B365-E4EDD354DBED}" destId="{55E54228-6AE9-4C78-B205-59AEDED3A216}" srcOrd="1" destOrd="0" presId="urn:microsoft.com/office/officeart/2018/2/layout/IconVerticalSolidList"/>
    <dgm:cxn modelId="{C06C97EF-41D8-466E-B1AD-2C49A05C6ADC}" type="presParOf" srcId="{33BB4DE0-9D32-48C3-B365-E4EDD354DBED}" destId="{54A1739B-8324-4E20-BC51-D95E3EBD1B11}" srcOrd="2" destOrd="0" presId="urn:microsoft.com/office/officeart/2018/2/layout/IconVerticalSolidList"/>
    <dgm:cxn modelId="{D2EA4B58-EC3A-426D-BE3A-2C64B1FBF871}" type="presParOf" srcId="{54A1739B-8324-4E20-BC51-D95E3EBD1B11}" destId="{DD6D90D1-7B61-4259-9427-7C58BC5CA6BF}" srcOrd="0" destOrd="0" presId="urn:microsoft.com/office/officeart/2018/2/layout/IconVerticalSolidList"/>
    <dgm:cxn modelId="{5267683E-0299-43E6-939C-102B1BB52530}" type="presParOf" srcId="{54A1739B-8324-4E20-BC51-D95E3EBD1B11}" destId="{0C93A822-A532-4E14-A244-E02BADB3FA3A}" srcOrd="1" destOrd="0" presId="urn:microsoft.com/office/officeart/2018/2/layout/IconVerticalSolidList"/>
    <dgm:cxn modelId="{B02ED61B-F2D6-473F-B469-FF2D1EE45977}" type="presParOf" srcId="{54A1739B-8324-4E20-BC51-D95E3EBD1B11}" destId="{51AF6780-90FB-4752-BD4F-D4E44BF2437C}" srcOrd="2" destOrd="0" presId="urn:microsoft.com/office/officeart/2018/2/layout/IconVerticalSolidList"/>
    <dgm:cxn modelId="{A8BD9AC2-E5A7-42C9-9BAC-9C8A7F65E6B9}" type="presParOf" srcId="{54A1739B-8324-4E20-BC51-D95E3EBD1B11}" destId="{37350140-9C6F-4198-B168-FED55ABB0491}" srcOrd="3" destOrd="0" presId="urn:microsoft.com/office/officeart/2018/2/layout/IconVerticalSolidList"/>
    <dgm:cxn modelId="{A71AE8E0-4C40-40C1-9610-3D69547F853D}" type="presParOf" srcId="{33BB4DE0-9D32-48C3-B365-E4EDD354DBED}" destId="{E37082C1-D628-46E2-AA16-03DE4FE93562}" srcOrd="3" destOrd="0" presId="urn:microsoft.com/office/officeart/2018/2/layout/IconVerticalSolidList"/>
    <dgm:cxn modelId="{9A749492-DB17-414E-B3B7-433E406E035C}" type="presParOf" srcId="{33BB4DE0-9D32-48C3-B365-E4EDD354DBED}" destId="{0CD25FB6-B7CE-4695-989E-1F9DA162E470}" srcOrd="4" destOrd="0" presId="urn:microsoft.com/office/officeart/2018/2/layout/IconVerticalSolidList"/>
    <dgm:cxn modelId="{0A265A3A-60B0-4968-9A66-BADDC60EEB47}" type="presParOf" srcId="{0CD25FB6-B7CE-4695-989E-1F9DA162E470}" destId="{59368C79-9759-4F22-AFC6-D014D09DAF57}" srcOrd="0" destOrd="0" presId="urn:microsoft.com/office/officeart/2018/2/layout/IconVerticalSolidList"/>
    <dgm:cxn modelId="{F7D6EBB4-CDF9-425F-823D-8C95DCE61368}" type="presParOf" srcId="{0CD25FB6-B7CE-4695-989E-1F9DA162E470}" destId="{9350AF59-8424-4F36-884C-9575CDCA3738}" srcOrd="1" destOrd="0" presId="urn:microsoft.com/office/officeart/2018/2/layout/IconVerticalSolidList"/>
    <dgm:cxn modelId="{16A0FD60-F067-425A-B5CA-A4C1348A0A5D}" type="presParOf" srcId="{0CD25FB6-B7CE-4695-989E-1F9DA162E470}" destId="{29818451-C03D-4A3B-9586-72DC4B62C4A0}" srcOrd="2" destOrd="0" presId="urn:microsoft.com/office/officeart/2018/2/layout/IconVerticalSolidList"/>
    <dgm:cxn modelId="{7C63E9E5-2740-4C73-831E-0FBE0B653EE6}" type="presParOf" srcId="{0CD25FB6-B7CE-4695-989E-1F9DA162E470}" destId="{50056E56-4262-4C2B-9742-53BFF4CF97C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74AA8-AE74-45C8-BA60-71BF04338B8F}">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D03213-02EC-456E-933E-280B282E4DC0}">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567A3C-2C7D-4FC5-B766-B9D1FD62D29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b="1" kern="1200" dirty="0"/>
            <a:t>Expand TV Series Production</a:t>
          </a:r>
          <a:r>
            <a:rPr lang="en-US" sz="2100" kern="1200" dirty="0"/>
            <a:t>: Considering the current catalog is heavy on movies, Netflix could consider balancing this with more TV series to cater to audiences who prefer episodic content.</a:t>
          </a:r>
        </a:p>
      </dsp:txBody>
      <dsp:txXfrm>
        <a:off x="1435590" y="531"/>
        <a:ext cx="9080009" cy="1242935"/>
      </dsp:txXfrm>
    </dsp:sp>
    <dsp:sp modelId="{DD6D90D1-7B61-4259-9427-7C58BC5CA6B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3A822-A532-4E14-A244-E02BADB3FA3A}">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350140-9C6F-4198-B168-FED55ABB0491}">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b="1" kern="1200"/>
            <a:t>Focus on Emerging Markets</a:t>
          </a:r>
          <a:r>
            <a:rPr lang="en-US" sz="2100" kern="1200"/>
            <a:t>: Enhancing content offerings in rapidly growing markets like India could capitalize on regional growth potential.</a:t>
          </a:r>
        </a:p>
      </dsp:txBody>
      <dsp:txXfrm>
        <a:off x="1435590" y="1554201"/>
        <a:ext cx="9080009" cy="1242935"/>
      </dsp:txXfrm>
    </dsp:sp>
    <dsp:sp modelId="{59368C79-9759-4F22-AFC6-D014D09DAF57}">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50AF59-8424-4F36-884C-9575CDCA3738}">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056E56-4262-4C2B-9742-53BFF4CF97C3}">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b="1" kern="1200"/>
            <a:t>Invest in Diverse Genres</a:t>
          </a:r>
          <a:r>
            <a:rPr lang="en-US" sz="2100" kern="1200"/>
            <a:t>: While documentaries are popular, investing in other genres like sci-fi or fantasy could attract different viewer segments.</a:t>
          </a:r>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977BB-C0E6-394C-C447-BD2A1D24C7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4CE9DB-4FFE-1DE3-933A-514AE8AF09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1AC50F-DC74-ED36-A831-88381B16EACC}"/>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5" name="Footer Placeholder 4">
            <a:extLst>
              <a:ext uri="{FF2B5EF4-FFF2-40B4-BE49-F238E27FC236}">
                <a16:creationId xmlns:a16="http://schemas.microsoft.com/office/drawing/2014/main" id="{27BEC48B-D8BD-C66C-F39B-7D636B05A7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4E961-A362-F87D-FAF8-B72C7FF148D3}"/>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70608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DD17-BAD3-6136-961E-BE454D9625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BB57DB-CB97-7F23-0828-88637ADF4C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A1A9A9-4118-6CBE-116C-D89B514D5804}"/>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5" name="Footer Placeholder 4">
            <a:extLst>
              <a:ext uri="{FF2B5EF4-FFF2-40B4-BE49-F238E27FC236}">
                <a16:creationId xmlns:a16="http://schemas.microsoft.com/office/drawing/2014/main" id="{0412D070-5C8A-19ED-5941-380ADF3FDC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A5FB2A-0DCF-828F-5C97-7AB643931BEC}"/>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3810508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BB44E-4067-4F28-E48A-E4D52E10DC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8A5302-7074-E3D1-5A0B-111FEC5A7F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D03E3E-7961-8EB0-1256-B6743C4C3703}"/>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5" name="Footer Placeholder 4">
            <a:extLst>
              <a:ext uri="{FF2B5EF4-FFF2-40B4-BE49-F238E27FC236}">
                <a16:creationId xmlns:a16="http://schemas.microsoft.com/office/drawing/2014/main" id="{204F4B6B-F77F-59F9-B9C0-456E993B56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19E43-D329-35E2-361F-952608EEF958}"/>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926580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52AA-9C92-8A38-177C-6F0FD3E9A7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C9AECF-D6C8-4700-AD9C-94EB9C1083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CDB14F-2988-7F4E-5208-49541741F1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CD07E1-90D1-828B-8F65-0C5E35B8E454}"/>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6" name="Footer Placeholder 5">
            <a:extLst>
              <a:ext uri="{FF2B5EF4-FFF2-40B4-BE49-F238E27FC236}">
                <a16:creationId xmlns:a16="http://schemas.microsoft.com/office/drawing/2014/main" id="{2CEF717A-4061-9863-192E-1004046130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FA335B-62FC-BC54-92FF-EEFCFF07D3AE}"/>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64812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9F63-600E-1A45-90E2-FEE66EC62B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E16CB4-8561-0D64-B888-14DF293B92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6D5921-5A9F-C1BB-8855-02A9AA46B1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4BB85B-F950-0732-8B87-E54C2FE973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D60D4A-7529-2966-F83A-314F6F4F5A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997774-7D30-7FB2-05D5-9B80ACA897A8}"/>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8" name="Footer Placeholder 7">
            <a:extLst>
              <a:ext uri="{FF2B5EF4-FFF2-40B4-BE49-F238E27FC236}">
                <a16:creationId xmlns:a16="http://schemas.microsoft.com/office/drawing/2014/main" id="{B2DEFDFB-7A88-5148-EC04-C7F287DDA96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EA73A5-7138-E204-D785-8F59502CD4A0}"/>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90172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CCAAF-E340-1E36-0DC9-DF1B1DF3A0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245147-BB61-D61F-37CD-7F4F944269A9}"/>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4" name="Footer Placeholder 3">
            <a:extLst>
              <a:ext uri="{FF2B5EF4-FFF2-40B4-BE49-F238E27FC236}">
                <a16:creationId xmlns:a16="http://schemas.microsoft.com/office/drawing/2014/main" id="{06A1ED0A-4C9E-2327-4125-235CAB4CEC4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A68E5C-AB35-6215-2732-1A63FF7827B2}"/>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245081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3D5430-6BD2-17D1-78FE-42ED775D74A0}"/>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3" name="Footer Placeholder 2">
            <a:extLst>
              <a:ext uri="{FF2B5EF4-FFF2-40B4-BE49-F238E27FC236}">
                <a16:creationId xmlns:a16="http://schemas.microsoft.com/office/drawing/2014/main" id="{C7FF25AC-D34C-C009-56AA-6D19D217F95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DA88E1-2041-E21E-D196-DCD122899C0C}"/>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300844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15E9-6E70-BA1D-CA67-F18ADF7214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4E5860-FF81-66EA-55F1-02E336C930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077A7E-CFF4-6B33-BB88-D73F6CCEDE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076E71-CBA3-C80E-9ABE-D33FA3943A79}"/>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6" name="Footer Placeholder 5">
            <a:extLst>
              <a:ext uri="{FF2B5EF4-FFF2-40B4-BE49-F238E27FC236}">
                <a16:creationId xmlns:a16="http://schemas.microsoft.com/office/drawing/2014/main" id="{86D4922D-2BC0-8287-23D4-4ADC53CD42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C25C0D-7448-EF3F-1B93-A56326F14BAF}"/>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2092788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BAE73-CA46-8EF1-8135-0BDE80B17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F77E90-A588-D435-BA20-8DC0CDE898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201E66-4292-C94C-4D52-05E7A2D7A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542B73-B54F-F4F4-4424-BE5AA27FBC9D}"/>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6" name="Footer Placeholder 5">
            <a:extLst>
              <a:ext uri="{FF2B5EF4-FFF2-40B4-BE49-F238E27FC236}">
                <a16:creationId xmlns:a16="http://schemas.microsoft.com/office/drawing/2014/main" id="{54A4ADD1-E34B-F8A8-45F8-8EB6646651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B3311F-82F0-1F55-60B6-11DCBC8BF835}"/>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3585924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229C-5A1F-8738-1FEA-F95C9D607B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6EF6D1-E9BF-EF19-2AF2-072AEC98CB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7C1AC3-7CC9-B7D4-8E01-6736F52D8B85}"/>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5" name="Footer Placeholder 4">
            <a:extLst>
              <a:ext uri="{FF2B5EF4-FFF2-40B4-BE49-F238E27FC236}">
                <a16:creationId xmlns:a16="http://schemas.microsoft.com/office/drawing/2014/main" id="{079CB004-BEB1-9807-460F-87AF07E7FC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471C26-819C-C10D-C171-7513D44A7118}"/>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3104774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1961FB-3742-BA15-8D97-AA595DE34D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0F461D-6F46-05A7-81C1-DECA81C653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73FBD0-AA3C-D4F9-2DB9-130B0B3B9653}"/>
              </a:ext>
            </a:extLst>
          </p:cNvPr>
          <p:cNvSpPr>
            <a:spLocks noGrp="1"/>
          </p:cNvSpPr>
          <p:nvPr>
            <p:ph type="dt" sz="half" idx="10"/>
          </p:nvPr>
        </p:nvSpPr>
        <p:spPr/>
        <p:txBody>
          <a:bodyPr/>
          <a:lstStyle/>
          <a:p>
            <a:fld id="{3F411D4E-B573-4CD1-9FEC-361213FB8245}" type="datetimeFigureOut">
              <a:rPr lang="en-IN" smtClean="0"/>
              <a:t>03-01-2025</a:t>
            </a:fld>
            <a:endParaRPr lang="en-IN"/>
          </a:p>
        </p:txBody>
      </p:sp>
      <p:sp>
        <p:nvSpPr>
          <p:cNvPr id="5" name="Footer Placeholder 4">
            <a:extLst>
              <a:ext uri="{FF2B5EF4-FFF2-40B4-BE49-F238E27FC236}">
                <a16:creationId xmlns:a16="http://schemas.microsoft.com/office/drawing/2014/main" id="{9B35C491-CB83-779A-B90D-13694836A3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6DAA66-8FCB-B84F-2C36-E4F10BFCE688}"/>
              </a:ext>
            </a:extLst>
          </p:cNvPr>
          <p:cNvSpPr>
            <a:spLocks noGrp="1"/>
          </p:cNvSpPr>
          <p:nvPr>
            <p:ph type="sldNum" sz="quarter" idx="12"/>
          </p:nvPr>
        </p:nvSpPr>
        <p:spPr/>
        <p:txBody>
          <a:bodyPr/>
          <a:lstStyle/>
          <a:p>
            <a:fld id="{FF00086B-116A-49AF-9C45-35B8CDAEB71A}" type="slidenum">
              <a:rPr lang="en-IN" smtClean="0"/>
              <a:t>‹#›</a:t>
            </a:fld>
            <a:endParaRPr lang="en-IN"/>
          </a:p>
        </p:txBody>
      </p:sp>
    </p:spTree>
    <p:extLst>
      <p:ext uri="{BB962C8B-B14F-4D97-AF65-F5344CB8AC3E}">
        <p14:creationId xmlns:p14="http://schemas.microsoft.com/office/powerpoint/2010/main" val="2968472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0B4CB0-4DA1-DF61-6761-4EF12BB5F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AAD6CE-99B4-AE51-9972-92F10E62DA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5000EE-7FBF-173E-C6AD-F3AB294BF7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411D4E-B573-4CD1-9FEC-361213FB8245}" type="datetimeFigureOut">
              <a:rPr lang="en-IN" smtClean="0"/>
              <a:t>03-01-2025</a:t>
            </a:fld>
            <a:endParaRPr lang="en-IN"/>
          </a:p>
        </p:txBody>
      </p:sp>
      <p:sp>
        <p:nvSpPr>
          <p:cNvPr id="5" name="Footer Placeholder 4">
            <a:extLst>
              <a:ext uri="{FF2B5EF4-FFF2-40B4-BE49-F238E27FC236}">
                <a16:creationId xmlns:a16="http://schemas.microsoft.com/office/drawing/2014/main" id="{3A0482F1-8D23-21F6-BD6F-D83C51BD1F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0BB2FFD-19A2-8CD1-8C40-38585361B8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00086B-116A-49AF-9C45-35B8CDAEB71A}" type="slidenum">
              <a:rPr lang="en-IN" smtClean="0"/>
              <a:t>‹#›</a:t>
            </a:fld>
            <a:endParaRPr lang="en-IN"/>
          </a:p>
        </p:txBody>
      </p:sp>
    </p:spTree>
    <p:extLst>
      <p:ext uri="{BB962C8B-B14F-4D97-AF65-F5344CB8AC3E}">
        <p14:creationId xmlns:p14="http://schemas.microsoft.com/office/powerpoint/2010/main" val="1051356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ed letter on a black background&#10;&#10;Description automatically generated">
            <a:extLst>
              <a:ext uri="{FF2B5EF4-FFF2-40B4-BE49-F238E27FC236}">
                <a16:creationId xmlns:a16="http://schemas.microsoft.com/office/drawing/2014/main" id="{979ABB05-1094-BDC9-47BC-CD683448DE46}"/>
              </a:ext>
            </a:extLst>
          </p:cNvPr>
          <p:cNvPicPr>
            <a:picLocks noChangeAspect="1"/>
          </p:cNvPicPr>
          <p:nvPr/>
        </p:nvPicPr>
        <p:blipFill>
          <a:blip r:embed="rId2">
            <a:extLst>
              <a:ext uri="{28A0092B-C50C-407E-A947-70E740481C1C}">
                <a14:useLocalDpi xmlns:a14="http://schemas.microsoft.com/office/drawing/2010/main" val="0"/>
              </a:ext>
            </a:extLst>
          </a:blip>
          <a:srcRect l="7405" t="7541" r="27959" b="1550"/>
          <a:stretch/>
        </p:blipFill>
        <p:spPr>
          <a:xfrm>
            <a:off x="3523488" y="10"/>
            <a:ext cx="8668512" cy="6857990"/>
          </a:xfrm>
          <a:prstGeom prst="rect">
            <a:avLst/>
          </a:prstGeom>
        </p:spPr>
      </p:pic>
      <p:sp>
        <p:nvSpPr>
          <p:cNvPr id="21" name="Rectangle 2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C4850D-91A8-3215-B65F-2353105B876C}"/>
              </a:ext>
            </a:extLst>
          </p:cNvPr>
          <p:cNvSpPr>
            <a:spLocks noGrp="1"/>
          </p:cNvSpPr>
          <p:nvPr>
            <p:ph type="ctrTitle"/>
          </p:nvPr>
        </p:nvSpPr>
        <p:spPr>
          <a:xfrm>
            <a:off x="477981" y="1122363"/>
            <a:ext cx="4023360" cy="3204134"/>
          </a:xfrm>
        </p:spPr>
        <p:txBody>
          <a:bodyPr anchor="b">
            <a:normAutofit/>
          </a:bodyPr>
          <a:lstStyle/>
          <a:p>
            <a:pPr algn="l"/>
            <a:r>
              <a:rPr lang="en-US" sz="4800">
                <a:solidFill>
                  <a:schemeClr val="bg1"/>
                </a:solidFill>
              </a:rPr>
              <a:t>Analysis of Netflix Content Distribution and Trends</a:t>
            </a:r>
            <a:endParaRPr lang="en-IN" sz="4800">
              <a:solidFill>
                <a:schemeClr val="bg1"/>
              </a:solidFill>
            </a:endParaRPr>
          </a:p>
        </p:txBody>
      </p:sp>
      <p:sp>
        <p:nvSpPr>
          <p:cNvPr id="3" name="Subtitle 2">
            <a:extLst>
              <a:ext uri="{FF2B5EF4-FFF2-40B4-BE49-F238E27FC236}">
                <a16:creationId xmlns:a16="http://schemas.microsoft.com/office/drawing/2014/main" id="{D246A65E-4D4F-A858-5A94-83A19E4D7A03}"/>
              </a:ext>
            </a:extLst>
          </p:cNvPr>
          <p:cNvSpPr>
            <a:spLocks noGrp="1"/>
          </p:cNvSpPr>
          <p:nvPr>
            <p:ph type="subTitle" idx="1"/>
          </p:nvPr>
        </p:nvSpPr>
        <p:spPr>
          <a:xfrm>
            <a:off x="477980" y="4872922"/>
            <a:ext cx="4023359" cy="1208141"/>
          </a:xfrm>
        </p:spPr>
        <p:txBody>
          <a:bodyPr>
            <a:normAutofit/>
          </a:bodyPr>
          <a:lstStyle/>
          <a:p>
            <a:pPr algn="l"/>
            <a:r>
              <a:rPr lang="en-IN" sz="2000">
                <a:solidFill>
                  <a:schemeClr val="bg1"/>
                </a:solidFill>
              </a:rPr>
              <a:t>Presented by: Sriram Joshi</a:t>
            </a:r>
          </a:p>
        </p:txBody>
      </p:sp>
      <p:sp>
        <p:nvSpPr>
          <p:cNvPr id="23" name="Rectangle 2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262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2EF59D-0C1B-96EF-FC52-D6FFD2ADBCB6}"/>
              </a:ext>
            </a:extLst>
          </p:cNvPr>
          <p:cNvSpPr>
            <a:spLocks noGrp="1"/>
          </p:cNvSpPr>
          <p:nvPr>
            <p:ph type="title"/>
          </p:nvPr>
        </p:nvSpPr>
        <p:spPr>
          <a:xfrm>
            <a:off x="1115568" y="548640"/>
            <a:ext cx="10168128" cy="1179576"/>
          </a:xfrm>
        </p:spPr>
        <p:txBody>
          <a:bodyPr>
            <a:normAutofit/>
          </a:bodyPr>
          <a:lstStyle/>
          <a:p>
            <a:r>
              <a:rPr lang="en-IN" sz="4000"/>
              <a:t>Introduction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4A01007-53D7-5B09-A45E-7DF7D7F6FDCB}"/>
              </a:ext>
            </a:extLst>
          </p:cNvPr>
          <p:cNvSpPr>
            <a:spLocks noGrp="1"/>
          </p:cNvSpPr>
          <p:nvPr>
            <p:ph idx="1"/>
          </p:nvPr>
        </p:nvSpPr>
        <p:spPr>
          <a:xfrm>
            <a:off x="1115568" y="2481943"/>
            <a:ext cx="10168128" cy="3695020"/>
          </a:xfrm>
        </p:spPr>
        <p:txBody>
          <a:bodyPr>
            <a:normAutofit/>
          </a:bodyPr>
          <a:lstStyle/>
          <a:p>
            <a:r>
              <a:rPr lang="en-US" sz="2200"/>
              <a:t>This project conducts a detailed analysis of Netflix's content distribution and viewer preferences to uncover strategic insights into the global streaming landscape. </a:t>
            </a:r>
          </a:p>
          <a:p>
            <a:r>
              <a:rPr lang="en-US" sz="2200"/>
              <a:t>By examining data on content type, directorial influence, geographical availability, and genre diversity, the study aims to explore how Netflix tailors its offerings to meet diverse audience demands and adapts to the dynamic entertainment industry. </a:t>
            </a:r>
          </a:p>
          <a:p>
            <a:r>
              <a:rPr lang="en-US" sz="2200"/>
              <a:t>The findings aim to contribute to the broader understanding of digital media trends and inform strategic decision-making within the streaming sector.</a:t>
            </a:r>
            <a:endParaRPr lang="en-IN" sz="2200"/>
          </a:p>
        </p:txBody>
      </p:sp>
    </p:spTree>
    <p:extLst>
      <p:ext uri="{BB962C8B-B14F-4D97-AF65-F5344CB8AC3E}">
        <p14:creationId xmlns:p14="http://schemas.microsoft.com/office/powerpoint/2010/main" val="3525967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E98128-FC1D-D84B-AD19-1A5D869B7E99}"/>
              </a:ext>
            </a:extLst>
          </p:cNvPr>
          <p:cNvSpPr>
            <a:spLocks noGrp="1"/>
          </p:cNvSpPr>
          <p:nvPr>
            <p:ph type="title"/>
          </p:nvPr>
        </p:nvSpPr>
        <p:spPr>
          <a:xfrm>
            <a:off x="1115568" y="548640"/>
            <a:ext cx="10168128" cy="1179576"/>
          </a:xfrm>
        </p:spPr>
        <p:txBody>
          <a:bodyPr>
            <a:normAutofit/>
          </a:bodyPr>
          <a:lstStyle/>
          <a:p>
            <a:r>
              <a:rPr lang="en-IN" sz="4000"/>
              <a:t>Objectives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95033D7-B917-F019-DC5C-A982D82A3EDC}"/>
              </a:ext>
            </a:extLst>
          </p:cNvPr>
          <p:cNvSpPr>
            <a:spLocks noGrp="1"/>
          </p:cNvSpPr>
          <p:nvPr>
            <p:ph idx="1"/>
          </p:nvPr>
        </p:nvSpPr>
        <p:spPr>
          <a:xfrm>
            <a:off x="1115568" y="2481943"/>
            <a:ext cx="10168128" cy="3695020"/>
          </a:xfrm>
        </p:spPr>
        <p:txBody>
          <a:bodyPr>
            <a:normAutofit/>
          </a:bodyPr>
          <a:lstStyle/>
          <a:p>
            <a:r>
              <a:rPr lang="en-US" sz="2200"/>
              <a:t>Evaluate the types and distribution of content across different regions to understand Netflix's global content strategy.</a:t>
            </a:r>
          </a:p>
          <a:p>
            <a:r>
              <a:rPr lang="en-US" sz="2200"/>
              <a:t>Assess viewer preferences by analyzing popular genres and ratings to gauge audience trends.</a:t>
            </a:r>
          </a:p>
          <a:p>
            <a:r>
              <a:rPr lang="en-US" sz="2200"/>
              <a:t>Derive strategic insights into Netflix's content decisions to anticipate future trends in the streaming industry.</a:t>
            </a:r>
            <a:endParaRPr lang="en-IN" sz="2200"/>
          </a:p>
        </p:txBody>
      </p:sp>
    </p:spTree>
    <p:extLst>
      <p:ext uri="{BB962C8B-B14F-4D97-AF65-F5344CB8AC3E}">
        <p14:creationId xmlns:p14="http://schemas.microsoft.com/office/powerpoint/2010/main" val="3512296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72C2-ECBE-A491-A643-6871F7D1BAB5}"/>
              </a:ext>
            </a:extLst>
          </p:cNvPr>
          <p:cNvSpPr>
            <a:spLocks noGrp="1"/>
          </p:cNvSpPr>
          <p:nvPr>
            <p:ph type="title"/>
          </p:nvPr>
        </p:nvSpPr>
        <p:spPr>
          <a:xfrm>
            <a:off x="838200" y="283820"/>
            <a:ext cx="10515600" cy="1325563"/>
          </a:xfrm>
        </p:spPr>
        <p:txBody>
          <a:bodyPr/>
          <a:lstStyle/>
          <a:p>
            <a:r>
              <a:rPr lang="en-IN" dirty="0"/>
              <a:t>Dataset Information</a:t>
            </a:r>
          </a:p>
        </p:txBody>
      </p:sp>
      <p:sp>
        <p:nvSpPr>
          <p:cNvPr id="3" name="Content Placeholder 2">
            <a:extLst>
              <a:ext uri="{FF2B5EF4-FFF2-40B4-BE49-F238E27FC236}">
                <a16:creationId xmlns:a16="http://schemas.microsoft.com/office/drawing/2014/main" id="{B116311E-74DF-661F-8840-A2AAE7FEE2DA}"/>
              </a:ext>
            </a:extLst>
          </p:cNvPr>
          <p:cNvSpPr>
            <a:spLocks noGrp="1"/>
          </p:cNvSpPr>
          <p:nvPr>
            <p:ph idx="1"/>
          </p:nvPr>
        </p:nvSpPr>
        <p:spPr>
          <a:xfrm>
            <a:off x="838200" y="1282784"/>
            <a:ext cx="10515600" cy="4351338"/>
          </a:xfrm>
        </p:spPr>
        <p:txBody>
          <a:bodyPr/>
          <a:lstStyle/>
          <a:p>
            <a:pPr marL="0" indent="0">
              <a:buNone/>
            </a:pPr>
            <a:r>
              <a:rPr lang="en-US" dirty="0"/>
              <a:t>The dataset contains detailed information about Netflix titles, including type, director, cast, release details, ratings, and descriptions. It categorizes each entry as either a Movie or TV Show, providing insights into Netflix's content distribution and viewer demographics.</a:t>
            </a:r>
          </a:p>
          <a:p>
            <a:endParaRPr lang="en-IN" dirty="0"/>
          </a:p>
        </p:txBody>
      </p:sp>
      <p:sp>
        <p:nvSpPr>
          <p:cNvPr id="4" name="Rectangle 1">
            <a:extLst>
              <a:ext uri="{FF2B5EF4-FFF2-40B4-BE49-F238E27FC236}">
                <a16:creationId xmlns:a16="http://schemas.microsoft.com/office/drawing/2014/main" id="{DD2146C7-8E75-686D-A1C5-92B2CEEE1709}"/>
              </a:ext>
            </a:extLst>
          </p:cNvPr>
          <p:cNvSpPr>
            <a:spLocks noChangeArrowheads="1"/>
          </p:cNvSpPr>
          <p:nvPr/>
        </p:nvSpPr>
        <p:spPr bwMode="auto">
          <a:xfrm>
            <a:off x="838200" y="3185934"/>
            <a:ext cx="1002230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show_id</a:t>
            </a:r>
            <a:r>
              <a:rPr kumimoji="0" lang="en-US" altLang="en-US" sz="1800" b="0" i="0" u="none" strike="noStrike" cap="none" normalizeH="0" baseline="0" dirty="0">
                <a:ln>
                  <a:noFill/>
                </a:ln>
                <a:solidFill>
                  <a:schemeClr val="tx1"/>
                </a:solidFill>
                <a:effectLst/>
                <a:latin typeface="Arial" panose="020B0604020202020204" pitchFamily="34" charset="0"/>
              </a:rPr>
              <a:t>: A unique identifier for each title.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type</a:t>
            </a:r>
            <a:r>
              <a:rPr kumimoji="0" lang="en-US" altLang="en-US" sz="1800" b="0" i="0" u="none" strike="noStrike" cap="none" normalizeH="0" baseline="0" dirty="0">
                <a:ln>
                  <a:noFill/>
                </a:ln>
                <a:solidFill>
                  <a:schemeClr val="tx1"/>
                </a:solidFill>
                <a:effectLst/>
                <a:latin typeface="Arial" panose="020B0604020202020204" pitchFamily="34" charset="0"/>
              </a:rPr>
              <a:t>: The type of the title, which can be either 'Movie' or 'TV Show'.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title</a:t>
            </a:r>
            <a:r>
              <a:rPr kumimoji="0" lang="en-US" altLang="en-US" sz="1800" b="0" i="0" u="none" strike="noStrike" cap="none" normalizeH="0" baseline="0" dirty="0">
                <a:ln>
                  <a:noFill/>
                </a:ln>
                <a:solidFill>
                  <a:schemeClr val="tx1"/>
                </a:solidFill>
                <a:effectLst/>
                <a:latin typeface="Arial" panose="020B0604020202020204" pitchFamily="34" charset="0"/>
              </a:rPr>
              <a:t>: The name of the movie or TV show.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director</a:t>
            </a:r>
            <a:r>
              <a:rPr kumimoji="0" lang="en-US" altLang="en-US" sz="1800" b="0" i="0" u="none" strike="noStrike" cap="none" normalizeH="0" baseline="0" dirty="0">
                <a:ln>
                  <a:noFill/>
                </a:ln>
                <a:solidFill>
                  <a:schemeClr val="tx1"/>
                </a:solidFill>
                <a:effectLst/>
                <a:latin typeface="Arial" panose="020B0604020202020204" pitchFamily="34" charset="0"/>
              </a:rPr>
              <a:t>: The director(s) of the movie or TV series episode.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cast</a:t>
            </a:r>
            <a:r>
              <a:rPr kumimoji="0" lang="en-US" altLang="en-US" sz="1800" b="0" i="0" u="none" strike="noStrike" cap="none" normalizeH="0" baseline="0" dirty="0">
                <a:ln>
                  <a:noFill/>
                </a:ln>
                <a:solidFill>
                  <a:schemeClr val="tx1"/>
                </a:solidFill>
                <a:effectLst/>
                <a:latin typeface="Arial" panose="020B0604020202020204" pitchFamily="34" charset="0"/>
              </a:rPr>
              <a:t>: The list of main actors/actresses involved in the title.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country</a:t>
            </a:r>
            <a:r>
              <a:rPr kumimoji="0" lang="en-US" altLang="en-US" sz="1800" b="0" i="0" u="none" strike="noStrike" cap="none" normalizeH="0" baseline="0" dirty="0">
                <a:ln>
                  <a:noFill/>
                </a:ln>
                <a:solidFill>
                  <a:schemeClr val="tx1"/>
                </a:solidFill>
                <a:effectLst/>
                <a:latin typeface="Arial" panose="020B0604020202020204" pitchFamily="34" charset="0"/>
              </a:rPr>
              <a:t>: The country or countries where the movie or TV show was produced.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date_added</a:t>
            </a:r>
            <a:r>
              <a:rPr kumimoji="0" lang="en-US" altLang="en-US" sz="1800" b="0" i="0" u="none" strike="noStrike" cap="none" normalizeH="0" baseline="0" dirty="0">
                <a:ln>
                  <a:noFill/>
                </a:ln>
                <a:solidFill>
                  <a:schemeClr val="tx1"/>
                </a:solidFill>
                <a:effectLst/>
                <a:latin typeface="Arial" panose="020B0604020202020204" pitchFamily="34" charset="0"/>
              </a:rPr>
              <a:t>: The date the title was added to Netflix.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release_year</a:t>
            </a:r>
            <a:r>
              <a:rPr kumimoji="0" lang="en-US" altLang="en-US" sz="1800" b="0" i="0" u="none" strike="noStrike" cap="none" normalizeH="0" baseline="0" dirty="0">
                <a:ln>
                  <a:noFill/>
                </a:ln>
                <a:solidFill>
                  <a:schemeClr val="tx1"/>
                </a:solidFill>
                <a:effectLst/>
                <a:latin typeface="Arial" panose="020B0604020202020204" pitchFamily="34" charset="0"/>
              </a:rPr>
              <a:t>: The year the title was originally released.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rating</a:t>
            </a:r>
            <a:r>
              <a:rPr kumimoji="0" lang="en-US" altLang="en-US" sz="1800" b="0" i="0" u="none" strike="noStrike" cap="none" normalizeH="0" baseline="0" dirty="0">
                <a:ln>
                  <a:noFill/>
                </a:ln>
                <a:solidFill>
                  <a:schemeClr val="tx1"/>
                </a:solidFill>
                <a:effectLst/>
                <a:latin typeface="Arial" panose="020B0604020202020204" pitchFamily="34" charset="0"/>
              </a:rPr>
              <a:t>: The age certification or rating of the title.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duration</a:t>
            </a:r>
            <a:r>
              <a:rPr kumimoji="0" lang="en-US" altLang="en-US" sz="1800" b="0" i="0" u="none" strike="noStrike" cap="none" normalizeH="0" baseline="0" dirty="0">
                <a:ln>
                  <a:noFill/>
                </a:ln>
                <a:solidFill>
                  <a:schemeClr val="tx1"/>
                </a:solidFill>
                <a:effectLst/>
                <a:latin typeface="Arial" panose="020B0604020202020204" pitchFamily="34" charset="0"/>
              </a:rPr>
              <a:t>: The length of the movie or the number of seasons in the case of TV shows.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listed_in</a:t>
            </a:r>
            <a:r>
              <a:rPr kumimoji="0" lang="en-US" altLang="en-US" sz="1800" b="0" i="0" u="none" strike="noStrike" cap="none" normalizeH="0" baseline="0" dirty="0">
                <a:ln>
                  <a:noFill/>
                </a:ln>
                <a:solidFill>
                  <a:schemeClr val="tx1"/>
                </a:solidFill>
                <a:effectLst/>
                <a:latin typeface="Arial" panose="020B0604020202020204" pitchFamily="34" charset="0"/>
              </a:rPr>
              <a:t>: The genre(s) under which the title is listed.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description</a:t>
            </a:r>
            <a:r>
              <a:rPr kumimoji="0" lang="en-US" altLang="en-US" sz="1800" b="0" i="0" u="none" strike="noStrike" cap="none" normalizeH="0" baseline="0" dirty="0">
                <a:ln>
                  <a:noFill/>
                </a:ln>
                <a:solidFill>
                  <a:schemeClr val="tx1"/>
                </a:solidFill>
                <a:effectLst/>
                <a:latin typeface="Arial" panose="020B0604020202020204" pitchFamily="34" charset="0"/>
              </a:rPr>
              <a:t>: A brief description of the plot of the title. </a:t>
            </a:r>
          </a:p>
        </p:txBody>
      </p:sp>
    </p:spTree>
    <p:extLst>
      <p:ext uri="{BB962C8B-B14F-4D97-AF65-F5344CB8AC3E}">
        <p14:creationId xmlns:p14="http://schemas.microsoft.com/office/powerpoint/2010/main" val="350242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F63B8B-2E98-2567-0232-F3AE47ECAE35}"/>
              </a:ext>
            </a:extLst>
          </p:cNvPr>
          <p:cNvSpPr>
            <a:spLocks noGrp="1"/>
          </p:cNvSpPr>
          <p:nvPr>
            <p:ph type="title"/>
          </p:nvPr>
        </p:nvSpPr>
        <p:spPr>
          <a:xfrm>
            <a:off x="630936" y="640080"/>
            <a:ext cx="4818888" cy="1481328"/>
          </a:xfrm>
        </p:spPr>
        <p:txBody>
          <a:bodyPr anchor="b">
            <a:normAutofit/>
          </a:bodyPr>
          <a:lstStyle/>
          <a:p>
            <a:r>
              <a:rPr lang="en-US" sz="4200"/>
              <a:t>Distribution of Movies vs. TV Shows</a:t>
            </a:r>
            <a:endParaRPr lang="en-IN" sz="4200"/>
          </a:p>
        </p:txBody>
      </p:sp>
      <p:sp>
        <p:nvSpPr>
          <p:cNvPr id="1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4691AFF-87B9-E675-29EB-973C138F54DB}"/>
              </a:ext>
            </a:extLst>
          </p:cNvPr>
          <p:cNvSpPr>
            <a:spLocks noGrp="1"/>
          </p:cNvSpPr>
          <p:nvPr>
            <p:ph idx="1"/>
          </p:nvPr>
        </p:nvSpPr>
        <p:spPr>
          <a:xfrm>
            <a:off x="630936" y="2660904"/>
            <a:ext cx="4818888" cy="3547872"/>
          </a:xfrm>
        </p:spPr>
        <p:txBody>
          <a:bodyPr anchor="t">
            <a:normAutofit/>
          </a:bodyPr>
          <a:lstStyle/>
          <a:p>
            <a:r>
              <a:rPr lang="en-US" sz="2200"/>
              <a:t>Movies constitute 68.42% of the content, while TV shows make up 31.58%. This indicates a significant preference or strategic focus on movies over TV series in Netflix's catalog.</a:t>
            </a:r>
            <a:endParaRPr lang="en-IN" sz="2200"/>
          </a:p>
        </p:txBody>
      </p:sp>
      <p:pic>
        <p:nvPicPr>
          <p:cNvPr id="5" name="Picture 4">
            <a:extLst>
              <a:ext uri="{FF2B5EF4-FFF2-40B4-BE49-F238E27FC236}">
                <a16:creationId xmlns:a16="http://schemas.microsoft.com/office/drawing/2014/main" id="{EB432075-1EBE-A558-A0D5-0CF66B9A2701}"/>
              </a:ext>
            </a:extLst>
          </p:cNvPr>
          <p:cNvPicPr>
            <a:picLocks noChangeAspect="1"/>
          </p:cNvPicPr>
          <p:nvPr/>
        </p:nvPicPr>
        <p:blipFill>
          <a:blip r:embed="rId2"/>
          <a:stretch>
            <a:fillRect/>
          </a:stretch>
        </p:blipFill>
        <p:spPr>
          <a:xfrm>
            <a:off x="6099048" y="1670479"/>
            <a:ext cx="5458968" cy="3517041"/>
          </a:xfrm>
          <a:prstGeom prst="rect">
            <a:avLst/>
          </a:prstGeom>
        </p:spPr>
      </p:pic>
    </p:spTree>
    <p:extLst>
      <p:ext uri="{BB962C8B-B14F-4D97-AF65-F5344CB8AC3E}">
        <p14:creationId xmlns:p14="http://schemas.microsoft.com/office/powerpoint/2010/main" val="360377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BC7B-5B9F-BEB3-3E74-F4ED76944EA4}"/>
              </a:ext>
            </a:extLst>
          </p:cNvPr>
          <p:cNvSpPr>
            <a:spLocks noGrp="1"/>
          </p:cNvSpPr>
          <p:nvPr>
            <p:ph type="title"/>
          </p:nvPr>
        </p:nvSpPr>
        <p:spPr>
          <a:xfrm>
            <a:off x="481013" y="3752849"/>
            <a:ext cx="3290887" cy="2452687"/>
          </a:xfrm>
        </p:spPr>
        <p:txBody>
          <a:bodyPr anchor="ctr">
            <a:normAutofit/>
          </a:bodyPr>
          <a:lstStyle/>
          <a:p>
            <a:r>
              <a:rPr lang="en-IN" sz="3600"/>
              <a:t>Geographical Insights</a:t>
            </a:r>
          </a:p>
        </p:txBody>
      </p:sp>
      <p:pic>
        <p:nvPicPr>
          <p:cNvPr id="5" name="Picture 4" descr="A map of the world&#10;&#10;Description automatically generated">
            <a:extLst>
              <a:ext uri="{FF2B5EF4-FFF2-40B4-BE49-F238E27FC236}">
                <a16:creationId xmlns:a16="http://schemas.microsoft.com/office/drawing/2014/main" id="{433EBF67-6D40-6984-B082-FDD54F280BAD}"/>
              </a:ext>
            </a:extLst>
          </p:cNvPr>
          <p:cNvPicPr>
            <a:picLocks noChangeAspect="1"/>
          </p:cNvPicPr>
          <p:nvPr/>
        </p:nvPicPr>
        <p:blipFill>
          <a:blip r:embed="rId2"/>
          <a:srcRect t="17863" b="26801"/>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ED75C1E7-6255-57FC-D07F-34BDBEC1D5A4}"/>
              </a:ext>
            </a:extLst>
          </p:cNvPr>
          <p:cNvSpPr>
            <a:spLocks noGrp="1"/>
          </p:cNvSpPr>
          <p:nvPr>
            <p:ph idx="1"/>
          </p:nvPr>
        </p:nvSpPr>
        <p:spPr>
          <a:xfrm>
            <a:off x="4223982" y="3752850"/>
            <a:ext cx="7485413" cy="2452687"/>
          </a:xfrm>
        </p:spPr>
        <p:txBody>
          <a:bodyPr anchor="ctr">
            <a:normAutofit/>
          </a:bodyPr>
          <a:lstStyle/>
          <a:p>
            <a:r>
              <a:rPr lang="en-US" sz="1800"/>
              <a:t>The map visualization reveals that the United States, India, and the United Kingdom are among the countries with the highest number of titles available. </a:t>
            </a:r>
          </a:p>
          <a:p>
            <a:r>
              <a:rPr lang="en-US" sz="1800"/>
              <a:t>The color intensity on the map correlates with the number of titles, showcasing a strong presence in North America and Europe.</a:t>
            </a:r>
            <a:endParaRPr lang="en-IN" sz="1800"/>
          </a:p>
        </p:txBody>
      </p:sp>
    </p:spTree>
    <p:extLst>
      <p:ext uri="{BB962C8B-B14F-4D97-AF65-F5344CB8AC3E}">
        <p14:creationId xmlns:p14="http://schemas.microsoft.com/office/powerpoint/2010/main" val="3340731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7D4EBC-CC93-32ED-DB6E-B68884CB49E4}"/>
              </a:ext>
            </a:extLst>
          </p:cNvPr>
          <p:cNvSpPr>
            <a:spLocks noGrp="1"/>
          </p:cNvSpPr>
          <p:nvPr>
            <p:ph type="title"/>
          </p:nvPr>
        </p:nvSpPr>
        <p:spPr>
          <a:xfrm>
            <a:off x="640080" y="325369"/>
            <a:ext cx="4368602" cy="1956841"/>
          </a:xfrm>
        </p:spPr>
        <p:txBody>
          <a:bodyPr anchor="b">
            <a:normAutofit/>
          </a:bodyPr>
          <a:lstStyle/>
          <a:p>
            <a:r>
              <a:rPr lang="en-IN" sz="5400"/>
              <a:t>Ratings Analysis</a:t>
            </a:r>
          </a:p>
        </p:txBody>
      </p:sp>
      <p:sp>
        <p:nvSpPr>
          <p:cNvPr id="1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5F09AB-0717-720D-1B44-115DA7B90C5F}"/>
              </a:ext>
            </a:extLst>
          </p:cNvPr>
          <p:cNvSpPr>
            <a:spLocks noGrp="1"/>
          </p:cNvSpPr>
          <p:nvPr>
            <p:ph idx="1"/>
          </p:nvPr>
        </p:nvSpPr>
        <p:spPr>
          <a:xfrm>
            <a:off x="640080" y="2872899"/>
            <a:ext cx="4243589" cy="3320668"/>
          </a:xfrm>
        </p:spPr>
        <p:txBody>
          <a:bodyPr>
            <a:normAutofit/>
          </a:bodyPr>
          <a:lstStyle/>
          <a:p>
            <a:pPr marL="0" indent="0">
              <a:buNone/>
            </a:pPr>
            <a:r>
              <a:rPr lang="en-US" sz="2200"/>
              <a:t>The most common ratings are TV-MA (Mature Audiences) and TV-14 (Parents Strongly Cautioned), which suggests that a large portion of Netflix content is aimed at older teenagers and adults.</a:t>
            </a:r>
            <a:endParaRPr lang="en-IN" sz="2200"/>
          </a:p>
        </p:txBody>
      </p:sp>
      <p:pic>
        <p:nvPicPr>
          <p:cNvPr id="9" name="Picture 8" descr="A graph with red bars and white text&#10;&#10;Description automatically generated">
            <a:extLst>
              <a:ext uri="{FF2B5EF4-FFF2-40B4-BE49-F238E27FC236}">
                <a16:creationId xmlns:a16="http://schemas.microsoft.com/office/drawing/2014/main" id="{23CFF34B-A8AB-9BDC-B75A-6FE3EB00CDB5}"/>
              </a:ext>
            </a:extLst>
          </p:cNvPr>
          <p:cNvPicPr>
            <a:picLocks noChangeAspect="1"/>
          </p:cNvPicPr>
          <p:nvPr/>
        </p:nvPicPr>
        <p:blipFill>
          <a:blip r:embed="rId2"/>
          <a:srcRect r="37407"/>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896065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6E886D-A5B2-A7AA-AF4A-0AE7618339A8}"/>
              </a:ext>
            </a:extLst>
          </p:cNvPr>
          <p:cNvSpPr>
            <a:spLocks noGrp="1"/>
          </p:cNvSpPr>
          <p:nvPr>
            <p:ph type="title"/>
          </p:nvPr>
        </p:nvSpPr>
        <p:spPr>
          <a:xfrm>
            <a:off x="630936" y="502920"/>
            <a:ext cx="3419856" cy="1463040"/>
          </a:xfrm>
        </p:spPr>
        <p:txBody>
          <a:bodyPr anchor="ctr">
            <a:normAutofit/>
          </a:bodyPr>
          <a:lstStyle/>
          <a:p>
            <a:r>
              <a:rPr lang="en-IN" sz="4800"/>
              <a:t>Popular Genres</a:t>
            </a:r>
          </a:p>
        </p:txBody>
      </p:sp>
      <p:sp>
        <p:nvSpPr>
          <p:cNvPr id="28"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E78CBF-9974-E61B-B1DF-F1BDC642525F}"/>
              </a:ext>
            </a:extLst>
          </p:cNvPr>
          <p:cNvSpPr>
            <a:spLocks noGrp="1"/>
          </p:cNvSpPr>
          <p:nvPr>
            <p:ph idx="1"/>
          </p:nvPr>
        </p:nvSpPr>
        <p:spPr>
          <a:xfrm>
            <a:off x="4654295" y="502920"/>
            <a:ext cx="6894576" cy="1463040"/>
          </a:xfrm>
        </p:spPr>
        <p:txBody>
          <a:bodyPr anchor="ctr">
            <a:normAutofit/>
          </a:bodyPr>
          <a:lstStyle/>
          <a:p>
            <a:r>
              <a:rPr lang="en-US" sz="1900"/>
              <a:t>Documentaries, stand-up comedies, and dramas are the most common genres. Documentaries top the list, which may indicate a strategic push for educational and real-world content.</a:t>
            </a:r>
            <a:br>
              <a:rPr lang="en-US" sz="1900"/>
            </a:br>
            <a:endParaRPr lang="en-IN" sz="1900"/>
          </a:p>
        </p:txBody>
      </p:sp>
      <p:pic>
        <p:nvPicPr>
          <p:cNvPr id="5" name="Picture 4" descr="A graph with red and white text&#10;&#10;Description automatically generated">
            <a:extLst>
              <a:ext uri="{FF2B5EF4-FFF2-40B4-BE49-F238E27FC236}">
                <a16:creationId xmlns:a16="http://schemas.microsoft.com/office/drawing/2014/main" id="{EFF6E410-093F-AE4A-0A1C-60FFECD526D0}"/>
              </a:ext>
            </a:extLst>
          </p:cNvPr>
          <p:cNvPicPr>
            <a:picLocks noChangeAspect="1"/>
          </p:cNvPicPr>
          <p:nvPr/>
        </p:nvPicPr>
        <p:blipFill>
          <a:blip r:embed="rId2"/>
          <a:stretch>
            <a:fillRect/>
          </a:stretch>
        </p:blipFill>
        <p:spPr>
          <a:xfrm>
            <a:off x="1348165" y="2290936"/>
            <a:ext cx="9483478" cy="3959352"/>
          </a:xfrm>
          <a:prstGeom prst="rect">
            <a:avLst/>
          </a:prstGeom>
        </p:spPr>
      </p:pic>
    </p:spTree>
    <p:extLst>
      <p:ext uri="{BB962C8B-B14F-4D97-AF65-F5344CB8AC3E}">
        <p14:creationId xmlns:p14="http://schemas.microsoft.com/office/powerpoint/2010/main" val="4156057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C57B40-F458-15E5-1410-922FFE21A23E}"/>
              </a:ext>
            </a:extLst>
          </p:cNvPr>
          <p:cNvSpPr>
            <a:spLocks noGrp="1"/>
          </p:cNvSpPr>
          <p:nvPr>
            <p:ph type="title"/>
          </p:nvPr>
        </p:nvSpPr>
        <p:spPr>
          <a:xfrm>
            <a:off x="630936" y="640080"/>
            <a:ext cx="4818888" cy="1481328"/>
          </a:xfrm>
        </p:spPr>
        <p:txBody>
          <a:bodyPr anchor="b">
            <a:normAutofit/>
          </a:bodyPr>
          <a:lstStyle/>
          <a:p>
            <a:r>
              <a:rPr lang="en-IN" sz="5000"/>
              <a:t>Content Release Trends</a:t>
            </a:r>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FDC5F81-7B3B-C87E-D49A-26DB0480988B}"/>
              </a:ext>
            </a:extLst>
          </p:cNvPr>
          <p:cNvSpPr>
            <a:spLocks noGrp="1"/>
          </p:cNvSpPr>
          <p:nvPr>
            <p:ph idx="1"/>
          </p:nvPr>
        </p:nvSpPr>
        <p:spPr>
          <a:xfrm>
            <a:off x="630936" y="2660904"/>
            <a:ext cx="4818888" cy="3547872"/>
          </a:xfrm>
        </p:spPr>
        <p:txBody>
          <a:bodyPr anchor="t">
            <a:normAutofit/>
          </a:bodyPr>
          <a:lstStyle/>
          <a:p>
            <a:r>
              <a:rPr lang="en-US" sz="2200"/>
              <a:t>There's a noticeable increase in the number of titles added each year, peaking in 2018. </a:t>
            </a:r>
          </a:p>
          <a:p>
            <a:r>
              <a:rPr lang="en-US" sz="2200"/>
              <a:t>The growth trend in the content library aligns with Netflix's expansion into new markets and increased investment in original content.</a:t>
            </a:r>
            <a:br>
              <a:rPr lang="en-US" sz="2200"/>
            </a:br>
            <a:endParaRPr lang="en-IN" sz="2200"/>
          </a:p>
        </p:txBody>
      </p:sp>
      <p:pic>
        <p:nvPicPr>
          <p:cNvPr id="7" name="Picture 6">
            <a:extLst>
              <a:ext uri="{FF2B5EF4-FFF2-40B4-BE49-F238E27FC236}">
                <a16:creationId xmlns:a16="http://schemas.microsoft.com/office/drawing/2014/main" id="{000E116F-0342-7095-53CC-6AD2D52F3F8A}"/>
              </a:ext>
            </a:extLst>
          </p:cNvPr>
          <p:cNvPicPr>
            <a:picLocks noChangeAspect="1"/>
          </p:cNvPicPr>
          <p:nvPr/>
        </p:nvPicPr>
        <p:blipFill>
          <a:blip r:embed="rId2"/>
          <a:stretch>
            <a:fillRect/>
          </a:stretch>
        </p:blipFill>
        <p:spPr>
          <a:xfrm>
            <a:off x="6099048" y="2378149"/>
            <a:ext cx="5458968" cy="2726414"/>
          </a:xfrm>
          <a:prstGeom prst="rect">
            <a:avLst/>
          </a:prstGeom>
        </p:spPr>
      </p:pic>
    </p:spTree>
    <p:extLst>
      <p:ext uri="{BB962C8B-B14F-4D97-AF65-F5344CB8AC3E}">
        <p14:creationId xmlns:p14="http://schemas.microsoft.com/office/powerpoint/2010/main" val="1251902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21CC1-8C3B-E88F-4DD8-0B668644875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Final Dashboard</a:t>
            </a:r>
          </a:p>
        </p:txBody>
      </p:sp>
      <p:pic>
        <p:nvPicPr>
          <p:cNvPr id="5" name="Content Placeholder 4" descr="A screenshot of a computer&#10;&#10;Description automatically generated">
            <a:extLst>
              <a:ext uri="{FF2B5EF4-FFF2-40B4-BE49-F238E27FC236}">
                <a16:creationId xmlns:a16="http://schemas.microsoft.com/office/drawing/2014/main" id="{7C07AA76-DF36-96B0-C102-0AF4D6BA0F15}"/>
              </a:ext>
            </a:extLst>
          </p:cNvPr>
          <p:cNvPicPr>
            <a:picLocks noGrp="1" noChangeAspect="1"/>
          </p:cNvPicPr>
          <p:nvPr>
            <p:ph idx="1"/>
          </p:nvPr>
        </p:nvPicPr>
        <p:blipFill>
          <a:blip r:embed="rId2"/>
          <a:stretch>
            <a:fillRect/>
          </a:stretch>
        </p:blipFill>
        <p:spPr>
          <a:xfrm>
            <a:off x="1700463" y="1675227"/>
            <a:ext cx="8839200" cy="4972050"/>
          </a:xfrm>
          <a:prstGeom prst="rect">
            <a:avLst/>
          </a:prstGeom>
        </p:spPr>
      </p:pic>
    </p:spTree>
    <p:extLst>
      <p:ext uri="{BB962C8B-B14F-4D97-AF65-F5344CB8AC3E}">
        <p14:creationId xmlns:p14="http://schemas.microsoft.com/office/powerpoint/2010/main" val="3089513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9BA21-40DB-D1C2-8415-476B4BFC3475}"/>
              </a:ext>
            </a:extLst>
          </p:cNvPr>
          <p:cNvSpPr>
            <a:spLocks noGrp="1"/>
          </p:cNvSpPr>
          <p:nvPr>
            <p:ph type="title"/>
          </p:nvPr>
        </p:nvSpPr>
        <p:spPr/>
        <p:txBody>
          <a:bodyPr/>
          <a:lstStyle/>
          <a:p>
            <a:r>
              <a:rPr lang="en-IN"/>
              <a:t>Recommendations based on analysis</a:t>
            </a:r>
            <a:endParaRPr lang="en-IN" dirty="0"/>
          </a:p>
        </p:txBody>
      </p:sp>
      <p:graphicFrame>
        <p:nvGraphicFramePr>
          <p:cNvPr id="6" name="Content Placeholder 2">
            <a:extLst>
              <a:ext uri="{FF2B5EF4-FFF2-40B4-BE49-F238E27FC236}">
                <a16:creationId xmlns:a16="http://schemas.microsoft.com/office/drawing/2014/main" id="{FE314807-DEA2-B9BB-541E-FE650497CCF8}"/>
              </a:ext>
            </a:extLst>
          </p:cNvPr>
          <p:cNvGraphicFramePr>
            <a:graphicFrameLocks noGrp="1"/>
          </p:cNvGraphicFramePr>
          <p:nvPr>
            <p:ph idx="1"/>
            <p:extLst>
              <p:ext uri="{D42A27DB-BD31-4B8C-83A1-F6EECF244321}">
                <p14:modId xmlns:p14="http://schemas.microsoft.com/office/powerpoint/2010/main" val="756548706"/>
              </p:ext>
            </p:extLst>
          </p:nvPr>
        </p:nvGraphicFramePr>
        <p:xfrm>
          <a:off x="838200" y="1690688"/>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5503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FA282F0C-06D6-537A-669B-355C2B1CF5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743F8F25-9B9B-0844-0145-B3AE60A95FFA}"/>
              </a:ext>
            </a:extLst>
          </p:cNvPr>
          <p:cNvSpPr>
            <a:spLocks noGrp="1"/>
          </p:cNvSpPr>
          <p:nvPr>
            <p:ph idx="1"/>
          </p:nvPr>
        </p:nvSpPr>
        <p:spPr>
          <a:xfrm>
            <a:off x="2187364" y="4072044"/>
            <a:ext cx="5801917" cy="2057045"/>
          </a:xfrm>
        </p:spPr>
        <p:txBody>
          <a:bodyPr>
            <a:normAutofit/>
          </a:bodyPr>
          <a:lstStyle/>
          <a:p>
            <a:pPr marL="0" indent="0">
              <a:buNone/>
            </a:pPr>
            <a:r>
              <a:rPr lang="en-IN" sz="2000"/>
              <a:t>Thank You</a:t>
            </a:r>
          </a:p>
        </p:txBody>
      </p:sp>
      <p:pic>
        <p:nvPicPr>
          <p:cNvPr id="9" name="Graphic 8" descr="Smiling Face with No Fill">
            <a:extLst>
              <a:ext uri="{FF2B5EF4-FFF2-40B4-BE49-F238E27FC236}">
                <a16:creationId xmlns:a16="http://schemas.microsoft.com/office/drawing/2014/main" id="{B19DD060-36FE-4C1B-B7CE-1C977D0DE5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182861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648</Words>
  <Application>Microsoft Office PowerPoint</Application>
  <PresentationFormat>Widescreen</PresentationFormat>
  <Paragraphs>42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Analysis of Netflix Content Distribution and Trends</vt:lpstr>
      <vt:lpstr>Introduction</vt:lpstr>
      <vt:lpstr>Objectives</vt:lpstr>
      <vt:lpstr>Dataset Information</vt:lpstr>
      <vt:lpstr>Distribution of Movies vs. TV Shows</vt:lpstr>
      <vt:lpstr>Geographical Insights</vt:lpstr>
      <vt:lpstr>Ratings Analysis</vt:lpstr>
      <vt:lpstr>Popular Genres</vt:lpstr>
      <vt:lpstr>Content Release Trends</vt:lpstr>
      <vt:lpstr>Final Dashboard</vt:lpstr>
      <vt:lpstr>Recommendations based on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 Joshi</dc:creator>
  <cp:lastModifiedBy>Sriram Joshi</cp:lastModifiedBy>
  <cp:revision>1</cp:revision>
  <dcterms:created xsi:type="dcterms:W3CDTF">2025-01-03T15:32:40Z</dcterms:created>
  <dcterms:modified xsi:type="dcterms:W3CDTF">2025-01-03T15:51:25Z</dcterms:modified>
</cp:coreProperties>
</file>